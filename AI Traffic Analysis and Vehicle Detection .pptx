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72" r:id="rId2"/>
    <p:sldId id="257" r:id="rId3"/>
    <p:sldId id="258" r:id="rId4"/>
    <p:sldId id="266" r:id="rId5"/>
    <p:sldId id="269" r:id="rId6"/>
    <p:sldId id="270" r:id="rId7"/>
    <p:sldId id="262" r:id="rId8"/>
    <p:sldId id="273" r:id="rId9"/>
    <p:sldId id="268" r:id="rId10"/>
    <p:sldId id="264" r:id="rId11"/>
    <p:sldId id="265" r:id="rId12"/>
  </p:sldIdLst>
  <p:sldSz cx="12192000" cy="6858000"/>
  <p:notesSz cx="6858000" cy="9144000"/>
  <p:embeddedFontLst>
    <p:embeddedFont>
      <p:font typeface="Helvetica Neue Light" panose="020B0604020202020204" charset="0"/>
      <p:regular r:id="rId14"/>
      <p:bold r:id="rId15"/>
      <p:italic r:id="rId16"/>
      <p:boldItalic r:id="rId17"/>
    </p:embeddedFon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Tahoma" panose="020B0604030504040204" pitchFamily="3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FDF847D-A422-4963-8273-8BE9E3934A6F}">
  <a:tblStyle styleId="{1FDF847D-A422-4963-8273-8BE9E3934A6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0DFEFD61-D158-E04C-6AF7-301164FF6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983A056A-B41F-1E64-1F77-38A02A9FFC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D1694952-15F0-3AAE-B4D7-71E17367DF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9829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01168578-155B-2F65-7E14-BF346B7CB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>
            <a:extLst>
              <a:ext uri="{FF2B5EF4-FFF2-40B4-BE49-F238E27FC236}">
                <a16:creationId xmlns:a16="http://schemas.microsoft.com/office/drawing/2014/main" id="{040CF05C-F856-4D07-1144-C4F7ABBB8C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AC23199-6756-CD4A-D2DF-B2EDAFA320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4705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2366B774-215A-34BC-BF9D-6435969CB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>
            <a:extLst>
              <a:ext uri="{FF2B5EF4-FFF2-40B4-BE49-F238E27FC236}">
                <a16:creationId xmlns:a16="http://schemas.microsoft.com/office/drawing/2014/main" id="{A84E0377-807F-9801-F8C6-6216E7A54D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D3AC0C4-5687-011E-54E4-E388D94008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2601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32885F9A-E883-BC74-1C61-35A4039E7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>
            <a:extLst>
              <a:ext uri="{FF2B5EF4-FFF2-40B4-BE49-F238E27FC236}">
                <a16:creationId xmlns:a16="http://schemas.microsoft.com/office/drawing/2014/main" id="{4FB14D7A-D8B8-2E39-D803-03BAD266FF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7840C0F-882A-5BCC-28F4-5019471B2B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3058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Date:</a:t>
            </a: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 of the Project in short</a:t>
            </a: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Date:</a:t>
            </a:r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 of the Project in short</a:t>
            </a: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Date: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 of the Project in short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Date:</a:t>
            </a:r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 of the Project in short</a:t>
            </a: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Date:</a:t>
            </a:r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 of the Project in short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Date:</a:t>
            </a: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 of the Project in short</a:t>
            </a:r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Date:</a:t>
            </a:r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 of the Project in short</a:t>
            </a:r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Date:</a:t>
            </a:r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 of the Project in short</a:t>
            </a:r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Date:</a:t>
            </a:r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 of the Project in short</a:t>
            </a:r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Date:</a:t>
            </a:r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 of the Project in short</a:t>
            </a:r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Date:</a:t>
            </a:r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Title of the Project in short</a:t>
            </a: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67566" y="39860"/>
            <a:ext cx="12020954" cy="1371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1800"/>
              <a:buFont typeface="Calibri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73393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National Education Society®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3200"/>
              <a:buFont typeface="Times New Roman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733939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JNN College of Engineering, Shivamogga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2800"/>
              <a:buFont typeface="Times New Roman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733939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Department of Information Science and Engineering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89" name="Google Shape;89;p13"/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381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" name="Google Shape;90;p13"/>
          <p:cNvCxnSpPr/>
          <p:nvPr/>
        </p:nvCxnSpPr>
        <p:spPr>
          <a:xfrm rot="10800000" flipH="1">
            <a:off x="62519" y="1780149"/>
            <a:ext cx="12007702" cy="2257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" name="Google Shape;91;p13"/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381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p13"/>
          <p:cNvSpPr txBox="1"/>
          <p:nvPr/>
        </p:nvSpPr>
        <p:spPr>
          <a:xfrm>
            <a:off x="159802" y="4196280"/>
            <a:ext cx="114492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Batch : 34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Date:26-09-2025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>
            <a:spLocks noGrp="1"/>
          </p:cNvSpPr>
          <p:nvPr>
            <p:ph type="ftr" idx="11"/>
          </p:nvPr>
        </p:nvSpPr>
        <p:spPr>
          <a:xfrm>
            <a:off x="2782090" y="6575553"/>
            <a:ext cx="6957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i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Traffic Analysis And Vehicle Detector</a:t>
            </a:r>
            <a:endParaRPr lang="en-US" sz="1400" i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1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3"/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195330" y="1950762"/>
            <a:ext cx="12020954" cy="2097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alibri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Mini Project Synopsis presentation on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Times New Roman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“AI Traffic Analysis And Vehicle Detector”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Times New Roman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2025-26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aphicFrame>
        <p:nvGraphicFramePr>
          <p:cNvPr id="97" name="Google Shape;97;p13"/>
          <p:cNvGraphicFramePr/>
          <p:nvPr>
            <p:extLst>
              <p:ext uri="{D42A27DB-BD31-4B8C-83A1-F6EECF244321}">
                <p14:modId xmlns:p14="http://schemas.microsoft.com/office/powerpoint/2010/main" val="883607621"/>
              </p:ext>
            </p:extLst>
          </p:nvPr>
        </p:nvGraphicFramePr>
        <p:xfrm>
          <a:off x="1325855" y="4638993"/>
          <a:ext cx="9869863" cy="1676410"/>
        </p:xfrm>
        <a:graphic>
          <a:graphicData uri="http://schemas.openxmlformats.org/drawingml/2006/table">
            <a:tbl>
              <a:tblPr firstRow="1" bandRow="1">
                <a:noFill/>
                <a:tableStyleId>{1FDF847D-A422-4963-8273-8BE9E3934A6F}</a:tableStyleId>
              </a:tblPr>
              <a:tblGrid>
                <a:gridCol w="3451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96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Under Guidance of :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Mr. Sharath Kumar S.R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B0F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Assistant Professor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solidFill>
                          <a:srgbClr val="00B0F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Presented By :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Anvith BK         4JN23IS015</a:t>
                      </a:r>
                      <a:endParaRPr dirty="0">
                        <a:solidFill>
                          <a:srgbClr val="00B0F0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dirty="0">
                          <a:solidFill>
                            <a:srgbClr val="00B0F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Ayush KN          4JN23IS016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dirty="0">
                          <a:solidFill>
                            <a:srgbClr val="00B0F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Kiran Kumar R  4JN23IS057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00B0F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Lohith Gopi S     4JN23IS063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8" name="Google Shape;9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07894" y="326488"/>
            <a:ext cx="1166053" cy="1170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802" y="263299"/>
            <a:ext cx="1166053" cy="1287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733939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/>
          </a:p>
        </p:txBody>
      </p:sp>
      <p:cxnSp>
        <p:nvCxnSpPr>
          <p:cNvPr id="105" name="Google Shape;105;p14"/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106;p14"/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" name="Google Shape;107;p14"/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8" name="Google Shape;108;p14" descr="Teach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Date:26-09-2025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99672" y="1012652"/>
            <a:ext cx="11985040" cy="533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AutoNum type="arabicPeriod"/>
            </a:pPr>
            <a:r>
              <a:rPr lang="en-US" sz="24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/>
          </a:p>
          <a:p>
            <a:pPr marL="457200" indent="-457200">
              <a:lnSpc>
                <a:spcPct val="150000"/>
              </a:lnSpc>
              <a:spcBef>
                <a:spcPts val="1000"/>
              </a:spcBef>
              <a:buClr>
                <a:srgbClr val="002060"/>
              </a:buClr>
              <a:buSzPts val="2400"/>
              <a:buFont typeface="Calibri"/>
              <a:buAutoNum type="arabicPeriod"/>
            </a:pPr>
            <a:r>
              <a:rPr lang="en-US" sz="24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</a:t>
            </a:r>
            <a:r>
              <a:rPr lang="en-US" sz="24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and Description</a:t>
            </a:r>
          </a:p>
          <a:p>
            <a:pPr marL="457200" indent="-457200">
              <a:lnSpc>
                <a:spcPct val="150000"/>
              </a:lnSpc>
              <a:spcBef>
                <a:spcPts val="1000"/>
              </a:spcBef>
              <a:buClr>
                <a:srgbClr val="002060"/>
              </a:buClr>
              <a:buSzPts val="2400"/>
              <a:buFont typeface="Calibri"/>
              <a:buAutoNum type="arabicPeriod"/>
            </a:pPr>
            <a:r>
              <a:rPr lang="en-US" sz="2400" b="1" dirty="0">
                <a:solidFill>
                  <a:srgbClr val="002060"/>
                </a:solidFill>
                <a:latin typeface="Times New Roman"/>
                <a:cs typeface="Times New Roman"/>
                <a:sym typeface="Times New Roman"/>
              </a:rPr>
              <a:t>Objectives</a:t>
            </a:r>
            <a:endParaRPr dirty="0"/>
          </a:p>
          <a:p>
            <a:pPr marL="457200" lvl="0" indent="-457200">
              <a:lnSpc>
                <a:spcPct val="150000"/>
              </a:lnSpc>
              <a:spcBef>
                <a:spcPts val="1000"/>
              </a:spcBef>
              <a:buClr>
                <a:srgbClr val="002060"/>
              </a:buClr>
              <a:buSzPts val="2400"/>
              <a:buFont typeface="Calibri"/>
              <a:buAutoNum type="arabicPeriod"/>
            </a:pPr>
            <a:r>
              <a:rPr lang="en-US" sz="24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Software/Hardware requirements</a:t>
            </a:r>
            <a:endParaRPr lang="en-US" sz="2400" dirty="0"/>
          </a:p>
          <a:p>
            <a:pPr marL="457200" marR="0" lvl="0" indent="-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AutoNum type="arabicPeriod"/>
            </a:pPr>
            <a:r>
              <a:rPr lang="en-US" sz="24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 dirty="0"/>
          </a:p>
          <a:p>
            <a:pPr marL="457200" marR="0" lvl="0" indent="-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AutoNum type="arabicPeriod"/>
            </a:pPr>
            <a:r>
              <a:rPr lang="en-US" sz="24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dirty="0"/>
          </a:p>
        </p:txBody>
      </p:sp>
      <p:sp>
        <p:nvSpPr>
          <p:cNvPr id="112" name="Google Shape;112;p14"/>
          <p:cNvSpPr txBox="1">
            <a:spLocks noGrp="1"/>
          </p:cNvSpPr>
          <p:nvPr>
            <p:ph type="ftr" idx="11"/>
          </p:nvPr>
        </p:nvSpPr>
        <p:spPr>
          <a:xfrm>
            <a:off x="2612599" y="6618424"/>
            <a:ext cx="6957391" cy="155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i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Traffic Analysis And Vehicle Detector</a:t>
            </a:r>
            <a:endParaRPr lang="en-US" sz="1400" i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i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/>
              <a:buNone/>
            </a:pPr>
            <a:r>
              <a:rPr lang="en-US" sz="4000" b="1" i="0" u="none" strike="noStrike" cap="none">
                <a:solidFill>
                  <a:srgbClr val="7339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Introduction</a:t>
            </a:r>
            <a:endParaRPr/>
          </a:p>
        </p:txBody>
      </p:sp>
      <p:cxnSp>
        <p:nvCxnSpPr>
          <p:cNvPr id="118" name="Google Shape;118;p15"/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" name="Google Shape;119;p15"/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" name="Google Shape;120;p15"/>
          <p:cNvCxnSpPr/>
          <p:nvPr/>
        </p:nvCxnSpPr>
        <p:spPr>
          <a:xfrm flipV="1">
            <a:off x="52596" y="6366420"/>
            <a:ext cx="12049176" cy="41387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1" name="Google Shape;121;p15" descr="Teach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Date:26-09-2025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23" name="Google Shape;123;p15"/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600" b="1">
              <a:solidFill>
                <a:srgbClr val="0070C0"/>
              </a:solidFill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39856" y="918629"/>
            <a:ext cx="119850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-90830" y="908012"/>
            <a:ext cx="12722748" cy="569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>
              <a:buClr>
                <a:srgbClr val="3B3835"/>
              </a:buClr>
              <a:buSzPts val="2800"/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traffic analysis leverages computer vision and machine learning algorithms to automatically identify, track, and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vehicles in real-time from camera feeds, sensors, and other monitoring systems.</a:t>
            </a:r>
          </a:p>
          <a:p>
            <a:pPr marL="457200" lvl="0" indent="-457200">
              <a:buClr>
                <a:srgbClr val="3B3835"/>
              </a:buClr>
              <a:buSzPts val="2800"/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Clr>
                <a:srgbClr val="3B3835"/>
              </a:buClr>
              <a:buSzPts val="2800"/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algorithms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vehicle density, speed patterns, and congestion levels to optimize traffic light timing, reduce bottlenecks, and improve overall traffic flow efficiency.</a:t>
            </a:r>
          </a:p>
          <a:p>
            <a:pPr marL="457200" lvl="0" indent="-457200">
              <a:buClr>
                <a:srgbClr val="3B3835"/>
              </a:buClr>
              <a:buSzPts val="2800"/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Clr>
                <a:srgbClr val="3B3835"/>
              </a:buClr>
              <a:buSzPts val="2800"/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can identify traffic violations such as speeding, illegal lane changes, running red lights, and unauthorized parking without human intervention enabling immediate enforcement actions.</a:t>
            </a:r>
          </a:p>
          <a:p>
            <a:pPr marL="285750" marR="0" lvl="0" indent="-107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3B38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B3835"/>
              </a:buClr>
              <a:buSzPts val="2800"/>
            </a:pPr>
            <a:r>
              <a:rPr lang="en-US" sz="2800" b="0" i="0" u="none" strike="noStrike" cap="none" dirty="0">
                <a:solidFill>
                  <a:srgbClr val="3B38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</a:t>
            </a:r>
          </a:p>
        </p:txBody>
      </p:sp>
      <p:sp>
        <p:nvSpPr>
          <p:cNvPr id="126" name="Google Shape;126;p15"/>
          <p:cNvSpPr txBox="1">
            <a:spLocks noGrp="1"/>
          </p:cNvSpPr>
          <p:nvPr>
            <p:ph type="ftr" idx="11"/>
          </p:nvPr>
        </p:nvSpPr>
        <p:spPr>
          <a:xfrm>
            <a:off x="2617305" y="6738791"/>
            <a:ext cx="6957391" cy="18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i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Traffic Analysis And Vehicle Detector</a:t>
            </a:r>
          </a:p>
          <a:p>
            <a:endParaRPr lang="en-US" sz="1400" i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27554B4A-51AE-E5A4-60D7-E4EDC1C35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FF53B314-50C7-BD72-A63A-660A59694961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buClr>
                <a:srgbClr val="733939"/>
              </a:buClr>
              <a:buSzPts val="4000"/>
            </a:pPr>
            <a:r>
              <a:rPr lang="en-US" sz="4000" b="1" i="0" u="none" strike="noStrike" cap="none">
                <a:solidFill>
                  <a:srgbClr val="7339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Problem </a:t>
            </a:r>
            <a:r>
              <a:rPr lang="en-US" sz="4000" b="1">
                <a:solidFill>
                  <a:srgbClr val="7339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and Description</a:t>
            </a:r>
            <a:endParaRPr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A4409E9C-2A0B-AAF8-B0C6-D61A725246A0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FAA04392-596B-856C-F257-4E71C6629137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C5FDCD33-6F0D-6420-34D9-2263DD01E0A0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A259377E-5388-EF2C-C4C3-F2B151FE28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F45741B9-EF86-D364-B51B-2BD65BC408B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Date:26-09-2025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2797022B-9A3E-DAFC-2B02-28C94B0709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600" b="1">
              <a:solidFill>
                <a:srgbClr val="0070C0"/>
              </a:solidFill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3C9CDE68-DC2F-EAD8-D1CD-0F273398CCB5}"/>
              </a:ext>
            </a:extLst>
          </p:cNvPr>
          <p:cNvSpPr txBox="1"/>
          <p:nvPr/>
        </p:nvSpPr>
        <p:spPr>
          <a:xfrm>
            <a:off x="80818" y="956090"/>
            <a:ext cx="119850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6">
            <a:extLst>
              <a:ext uri="{FF2B5EF4-FFF2-40B4-BE49-F238E27FC236}">
                <a16:creationId xmlns:a16="http://schemas.microsoft.com/office/drawing/2014/main" id="{1939A49D-D505-ABF6-7C92-0593A4FB66A9}"/>
              </a:ext>
            </a:extLst>
          </p:cNvPr>
          <p:cNvSpPr txBox="1"/>
          <p:nvPr/>
        </p:nvSpPr>
        <p:spPr>
          <a:xfrm>
            <a:off x="15517" y="1128589"/>
            <a:ext cx="11898754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3B3835"/>
              </a:buClr>
              <a:buSzPts val="2800"/>
            </a:pPr>
            <a:endParaRPr lang="en-US" sz="2800" dirty="0">
              <a:solidFill>
                <a:srgbClr val="3B38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>
              <a:buClr>
                <a:srgbClr val="3B3835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3B38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  <a:r>
              <a:rPr lang="en-US" sz="2800" b="1" dirty="0">
                <a:solidFill>
                  <a:srgbClr val="3B38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ctr">
              <a:buClr>
                <a:srgbClr val="3B3835"/>
              </a:buClr>
              <a:buSzPts val="2800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“AI Vehicle Detection and Traffic Flow Analysis Using Computer Vision”</a:t>
            </a:r>
          </a:p>
          <a:p>
            <a:pPr lvl="0">
              <a:buClr>
                <a:srgbClr val="3B3835"/>
              </a:buClr>
              <a:buSzPts val="2800"/>
            </a:pPr>
            <a:endParaRPr lang="en-US" sz="2800" dirty="0">
              <a:solidFill>
                <a:srgbClr val="3B3835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457200">
              <a:buClr>
                <a:srgbClr val="3B3835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3B38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Description</a:t>
            </a:r>
            <a:r>
              <a:rPr lang="en-US" sz="2800" b="1" dirty="0">
                <a:solidFill>
                  <a:srgbClr val="3B38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</a:t>
            </a:r>
            <a:r>
              <a:rPr lang="en-IN" sz="2800" dirty="0"/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urban traffic congestion leads to longer travel times, higher fuel consumption, and increased pollution. Traditional traffic management systems struggle to adapt to real-time conditions. There is a need for an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vehicle detection and traffic analysis system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accurately identify vehicles, monitor traffic density, and predict congestion patterns. </a:t>
            </a:r>
            <a:endParaRPr lang="en-US" sz="2800" b="0" i="0" u="none" strike="noStrike" cap="none" dirty="0">
              <a:solidFill>
                <a:srgbClr val="3B3835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199A84D7-3D10-03BE-03E6-A0E85D70F64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85492" y="6530213"/>
            <a:ext cx="6957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i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Traffic Analysis And Vehicle Detector</a:t>
            </a:r>
            <a:endParaRPr lang="en-US" sz="1400" i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1029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68BA9A1E-06FD-6440-B271-E2804F8F8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>
            <a:extLst>
              <a:ext uri="{FF2B5EF4-FFF2-40B4-BE49-F238E27FC236}">
                <a16:creationId xmlns:a16="http://schemas.microsoft.com/office/drawing/2014/main" id="{274E131F-D854-79C7-BF61-172134C7EF75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buClr>
                <a:srgbClr val="733939"/>
              </a:buClr>
              <a:buSzPts val="4000"/>
            </a:pPr>
            <a:r>
              <a:rPr lang="en-US" sz="4000" b="1">
                <a:solidFill>
                  <a:srgbClr val="7339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Problem Statement and Description</a:t>
            </a:r>
            <a:endParaRPr lang="en-US" sz="4000"/>
          </a:p>
        </p:txBody>
      </p:sp>
      <p:cxnSp>
        <p:nvCxnSpPr>
          <p:cNvPr id="174" name="Google Shape;174;p19">
            <a:extLst>
              <a:ext uri="{FF2B5EF4-FFF2-40B4-BE49-F238E27FC236}">
                <a16:creationId xmlns:a16="http://schemas.microsoft.com/office/drawing/2014/main" id="{5D3393B8-7A13-47D1-0AE4-F9ED1D217354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" name="Google Shape;175;p19">
            <a:extLst>
              <a:ext uri="{FF2B5EF4-FFF2-40B4-BE49-F238E27FC236}">
                <a16:creationId xmlns:a16="http://schemas.microsoft.com/office/drawing/2014/main" id="{EAC40865-420E-3D76-7442-452C875CB11F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" name="Google Shape;176;p19">
            <a:extLst>
              <a:ext uri="{FF2B5EF4-FFF2-40B4-BE49-F238E27FC236}">
                <a16:creationId xmlns:a16="http://schemas.microsoft.com/office/drawing/2014/main" id="{F6D383A6-6BDC-0954-4766-1B3C90541EE8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7" name="Google Shape;177;p19" descr="Teacher">
            <a:extLst>
              <a:ext uri="{FF2B5EF4-FFF2-40B4-BE49-F238E27FC236}">
                <a16:creationId xmlns:a16="http://schemas.microsoft.com/office/drawing/2014/main" id="{578EF3B9-24E9-F180-7D17-C590A6A671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3E9DDD90-44F1-54AC-42E9-ED816DA77BB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Date:26-09-2025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79" name="Google Shape;179;p19">
            <a:extLst>
              <a:ext uri="{FF2B5EF4-FFF2-40B4-BE49-F238E27FC236}">
                <a16:creationId xmlns:a16="http://schemas.microsoft.com/office/drawing/2014/main" id="{E2294DC3-220B-8C39-D7DF-09EC990844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600" b="1">
              <a:solidFill>
                <a:srgbClr val="0070C0"/>
              </a:solidFill>
            </a:endParaRPr>
          </a:p>
        </p:txBody>
      </p:sp>
      <p:sp>
        <p:nvSpPr>
          <p:cNvPr id="180" name="Google Shape;180;p19">
            <a:extLst>
              <a:ext uri="{FF2B5EF4-FFF2-40B4-BE49-F238E27FC236}">
                <a16:creationId xmlns:a16="http://schemas.microsoft.com/office/drawing/2014/main" id="{2B134773-1996-DACB-C1DE-2F10C047906A}"/>
              </a:ext>
            </a:extLst>
          </p:cNvPr>
          <p:cNvSpPr txBox="1"/>
          <p:nvPr/>
        </p:nvSpPr>
        <p:spPr>
          <a:xfrm>
            <a:off x="80818" y="956090"/>
            <a:ext cx="119850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9">
            <a:extLst>
              <a:ext uri="{FF2B5EF4-FFF2-40B4-BE49-F238E27FC236}">
                <a16:creationId xmlns:a16="http://schemas.microsoft.com/office/drawing/2014/main" id="{765CEEF9-CDC2-C661-19F0-D984F1DAF5FC}"/>
              </a:ext>
            </a:extLst>
          </p:cNvPr>
          <p:cNvSpPr txBox="1"/>
          <p:nvPr/>
        </p:nvSpPr>
        <p:spPr>
          <a:xfrm>
            <a:off x="0" y="816411"/>
            <a:ext cx="12152144" cy="569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3B3835"/>
              </a:buClr>
              <a:buSzPts val="2800"/>
            </a:pPr>
            <a:r>
              <a:rPr lang="en-US" sz="2800" b="1" u="sng" dirty="0">
                <a:solidFill>
                  <a:srgbClr val="3B38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Challenges </a:t>
            </a:r>
            <a:r>
              <a:rPr lang="en-US" sz="2800" b="1" dirty="0">
                <a:solidFill>
                  <a:srgbClr val="3B38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  <a:p>
            <a:pPr marL="457200" indent="-457200">
              <a:buClr>
                <a:srgbClr val="3B3835"/>
              </a:buClr>
              <a:buSzPts val="2800"/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systems struggle with accuracy during adverse weather like heavy rain, fog, snow, or extreme lighting conditions such as direct sunlight glare, shadows, and nighttime scenarios that obscure vehicle visibility.</a:t>
            </a:r>
            <a:r>
              <a:rPr lang="en-US" sz="2800" dirty="0">
                <a:solidFill>
                  <a:srgbClr val="3B383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</a:p>
          <a:p>
            <a:pPr marL="457200" indent="-457200">
              <a:buClr>
                <a:srgbClr val="3B3835"/>
              </a:buClr>
              <a:buSzPts val="2800"/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Unusual situations like emergency vehicles, parade processions, accidents, or natural disasters create unpredictable traffic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AI systems struggle to interpret and respond to appropriately.</a:t>
            </a:r>
            <a:endParaRPr lang="en-US" sz="2800" dirty="0">
              <a:solidFill>
                <a:srgbClr val="3B38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lr>
                <a:srgbClr val="3B3835"/>
              </a:buClr>
              <a:buSzPts val="2800"/>
            </a:pPr>
            <a:r>
              <a:rPr lang="en-US" sz="2800" b="1" u="sng" dirty="0">
                <a:solidFill>
                  <a:srgbClr val="3B38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for a Solution</a:t>
            </a:r>
            <a:r>
              <a:rPr lang="en-US" sz="2800" b="1" dirty="0">
                <a:solidFill>
                  <a:srgbClr val="3B38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  <a:p>
            <a:pPr marL="457200" indent="-457200">
              <a:buClr>
                <a:srgbClr val="3B3835"/>
              </a:buClr>
              <a:buSzPts val="2800"/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thermal infrared cameras alongside visible light cameras to maintain vehicle detection capability during fog, rain, and low-light conditions.</a:t>
            </a:r>
          </a:p>
          <a:p>
            <a:pPr marL="457200" indent="-457200">
              <a:buClr>
                <a:srgbClr val="3B3835"/>
              </a:buClr>
              <a:buSzPts val="2800"/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acoustic detection algorithms and emergency beacon recognition to automatically identify emergency vehicles, triggering special traffic light sequences and route clearance protocols while notifying nearby traffic system.</a:t>
            </a:r>
            <a:endParaRPr lang="en-US" sz="2000" dirty="0">
              <a:solidFill>
                <a:srgbClr val="3B3835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82" name="Google Shape;182;p19">
            <a:extLst>
              <a:ext uri="{FF2B5EF4-FFF2-40B4-BE49-F238E27FC236}">
                <a16:creationId xmlns:a16="http://schemas.microsoft.com/office/drawing/2014/main" id="{77837B53-36C4-7368-4B52-8B5B698115F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85492" y="6547698"/>
            <a:ext cx="6957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i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Traffic Analysis And Vehicle Detector</a:t>
            </a:r>
            <a:endParaRPr lang="en-US" sz="1400" i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9704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FC57B95E-781A-A6DA-BF5D-E0FC33A3B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>
            <a:extLst>
              <a:ext uri="{FF2B5EF4-FFF2-40B4-BE49-F238E27FC236}">
                <a16:creationId xmlns:a16="http://schemas.microsoft.com/office/drawing/2014/main" id="{4CB850B9-3071-12DC-F4BA-895D11DD04FE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buClr>
                <a:srgbClr val="733939"/>
              </a:buClr>
              <a:buSzPts val="4000"/>
            </a:pPr>
            <a:r>
              <a:rPr lang="en-US" sz="4000" b="1">
                <a:solidFill>
                  <a:srgbClr val="733939"/>
                </a:solidFill>
                <a:latin typeface="Times New Roman"/>
                <a:cs typeface="Times New Roman"/>
                <a:sym typeface="Times New Roman"/>
              </a:rPr>
              <a:t>3.Objectives</a:t>
            </a:r>
            <a:endParaRPr lang="en-US" sz="4000"/>
          </a:p>
        </p:txBody>
      </p:sp>
      <p:cxnSp>
        <p:nvCxnSpPr>
          <p:cNvPr id="174" name="Google Shape;174;p19">
            <a:extLst>
              <a:ext uri="{FF2B5EF4-FFF2-40B4-BE49-F238E27FC236}">
                <a16:creationId xmlns:a16="http://schemas.microsoft.com/office/drawing/2014/main" id="{1107F4A6-4F38-8514-E75E-CF029BB26EAC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" name="Google Shape;175;p19">
            <a:extLst>
              <a:ext uri="{FF2B5EF4-FFF2-40B4-BE49-F238E27FC236}">
                <a16:creationId xmlns:a16="http://schemas.microsoft.com/office/drawing/2014/main" id="{06832C55-6C3F-1A4A-A3F2-3FA73A49E85C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" name="Google Shape;176;p19">
            <a:extLst>
              <a:ext uri="{FF2B5EF4-FFF2-40B4-BE49-F238E27FC236}">
                <a16:creationId xmlns:a16="http://schemas.microsoft.com/office/drawing/2014/main" id="{963950F7-70F0-3719-B663-27D7DA4C128D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7" name="Google Shape;177;p19" descr="Teacher">
            <a:extLst>
              <a:ext uri="{FF2B5EF4-FFF2-40B4-BE49-F238E27FC236}">
                <a16:creationId xmlns:a16="http://schemas.microsoft.com/office/drawing/2014/main" id="{D0A77050-CAF3-6C2E-8970-33E7E93492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33857F05-38E5-6BFD-9461-FE706C56984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Date:26-09-2025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79" name="Google Shape;179;p19">
            <a:extLst>
              <a:ext uri="{FF2B5EF4-FFF2-40B4-BE49-F238E27FC236}">
                <a16:creationId xmlns:a16="http://schemas.microsoft.com/office/drawing/2014/main" id="{F53FDB3D-1D10-6BB1-4D4E-D5122D547B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600" b="1">
              <a:solidFill>
                <a:srgbClr val="0070C0"/>
              </a:solidFill>
            </a:endParaRPr>
          </a:p>
        </p:txBody>
      </p:sp>
      <p:sp>
        <p:nvSpPr>
          <p:cNvPr id="180" name="Google Shape;180;p19">
            <a:extLst>
              <a:ext uri="{FF2B5EF4-FFF2-40B4-BE49-F238E27FC236}">
                <a16:creationId xmlns:a16="http://schemas.microsoft.com/office/drawing/2014/main" id="{93183312-0079-87D7-7011-C2424ADAE2BB}"/>
              </a:ext>
            </a:extLst>
          </p:cNvPr>
          <p:cNvSpPr txBox="1"/>
          <p:nvPr/>
        </p:nvSpPr>
        <p:spPr>
          <a:xfrm>
            <a:off x="80818" y="1366869"/>
            <a:ext cx="11985040" cy="493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put into use deep learning models that can detect vehicles in a variety of environmental conditions with an accuracy of &gt;95%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classification algorithms to distinguish between different vehicle types (cars, trucks, buses, motorcycles, bicycles)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over speeding vehicles, signal jumping, or lane violations to improve road safety and enable automated challan (fine) systems.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predictive models for traffic pattern forecasting and congestion prediction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US" sz="28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19">
            <a:extLst>
              <a:ext uri="{FF2B5EF4-FFF2-40B4-BE49-F238E27FC236}">
                <a16:creationId xmlns:a16="http://schemas.microsoft.com/office/drawing/2014/main" id="{65BAD38A-DDB9-B01F-56EA-47C7C53AA94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617305" y="6584530"/>
            <a:ext cx="6957391" cy="20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i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Traffic Analysis And Vehicle Detector</a:t>
            </a:r>
            <a:endParaRPr lang="en-US" sz="1400" i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83135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/>
              <a:buNone/>
            </a:pPr>
            <a:r>
              <a:rPr lang="en-US" sz="4000" b="1" i="0" u="none" strike="noStrike" cap="none">
                <a:solidFill>
                  <a:srgbClr val="7339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Software/Hardware Requirements</a:t>
            </a:r>
            <a:endParaRPr sz="4000" b="1" i="0" u="none" strike="noStrike" cap="none">
              <a:solidFill>
                <a:srgbClr val="7339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4" name="Google Shape;174;p19"/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" name="Google Shape;175;p19"/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" name="Google Shape;176;p19"/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7" name="Google Shape;177;p19" descr="Teach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Date:26-09-2025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79" name="Google Shape;179;p19"/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600" b="1">
              <a:solidFill>
                <a:srgbClr val="0070C0"/>
              </a:solidFill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80818" y="956090"/>
            <a:ext cx="119850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39856" y="1101721"/>
            <a:ext cx="11985040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IN" sz="28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Requirements 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10/11, Linux (Ubuntu), or macOS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 3.x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&amp; Frameworks: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NumPy, OpenCV (data processing)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Matplotlib / Seaborn (visualization)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2.8+ (machine learning models) 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(if needed): MySQL / SQLite / CSV files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 / Tools: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Notebook, Google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PyCharm/VS Code</a:t>
            </a:r>
          </a:p>
        </p:txBody>
      </p:sp>
      <p:sp>
        <p:nvSpPr>
          <p:cNvPr id="182" name="Google Shape;182;p19"/>
          <p:cNvSpPr txBox="1">
            <a:spLocks noGrp="1"/>
          </p:cNvSpPr>
          <p:nvPr>
            <p:ph type="ftr" idx="11"/>
          </p:nvPr>
        </p:nvSpPr>
        <p:spPr>
          <a:xfrm>
            <a:off x="2594642" y="6563619"/>
            <a:ext cx="6957391" cy="274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i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Traffic Analysis And Vehicle Detector</a:t>
            </a:r>
            <a:endParaRPr lang="en-US" sz="1400" i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733939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5. Software/Hardware requirements</a:t>
            </a:r>
            <a:endParaRPr kumimoji="0" sz="4000" b="1" i="0" u="none" strike="noStrike" kern="0" cap="none" spc="0" normalizeH="0" baseline="0" noProof="0">
              <a:ln>
                <a:noFill/>
              </a:ln>
              <a:solidFill>
                <a:srgbClr val="733939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4" name="Google Shape;174;p19"/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" name="Google Shape;175;p19"/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" name="Google Shape;176;p19"/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7" name="Google Shape;177;p19" descr="Teach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Date:26-09-2025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80818" y="956090"/>
            <a:ext cx="119850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39856" y="1126998"/>
            <a:ext cx="11985040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indent="-514350" algn="just">
              <a:buAutoNum type="arabicPeriod" startAt="2"/>
            </a:pPr>
            <a:r>
              <a:rPr lang="en-IN" sz="2800" b="1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</a:t>
            </a:r>
            <a:r>
              <a:rPr lang="en-IN" sz="28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Core i3 or higher / AMD equivalent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4 GB (8 GB recommended for faster model training)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At least 250 GB Hard Disk (SSD preferred)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(Optional): NVIDIA GPU with CUDA support (for deep learning models)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System: Laptop/PC with good internet connectivity</a:t>
            </a:r>
            <a:endParaRPr lang="en-IN" sz="2800" b="1" dirty="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19"/>
          <p:cNvSpPr txBox="1">
            <a:spLocks noGrp="1"/>
          </p:cNvSpPr>
          <p:nvPr>
            <p:ph type="ftr" idx="11"/>
          </p:nvPr>
        </p:nvSpPr>
        <p:spPr>
          <a:xfrm>
            <a:off x="2553680" y="6512536"/>
            <a:ext cx="6957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i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Traffic Analysis And Vehicle Detector</a:t>
            </a:r>
            <a:endParaRPr lang="en-US" sz="1400" i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1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C1887F2B-CA2D-774F-17E8-B44C2005A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>
            <a:extLst>
              <a:ext uri="{FF2B5EF4-FFF2-40B4-BE49-F238E27FC236}">
                <a16:creationId xmlns:a16="http://schemas.microsoft.com/office/drawing/2014/main" id="{8CEBC769-CB15-8F12-E6DA-E1E18B4DA875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rgbClr val="7339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5.Applications</a:t>
            </a:r>
            <a:endParaRPr lang="en-US" sz="4000" b="1" i="0" u="none" strike="noStrike" cap="none">
              <a:solidFill>
                <a:srgbClr val="733939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74" name="Google Shape;174;p19">
            <a:extLst>
              <a:ext uri="{FF2B5EF4-FFF2-40B4-BE49-F238E27FC236}">
                <a16:creationId xmlns:a16="http://schemas.microsoft.com/office/drawing/2014/main" id="{AD45BB7D-3433-09B9-1216-794F160D74FE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" name="Google Shape;175;p19">
            <a:extLst>
              <a:ext uri="{FF2B5EF4-FFF2-40B4-BE49-F238E27FC236}">
                <a16:creationId xmlns:a16="http://schemas.microsoft.com/office/drawing/2014/main" id="{67AE81B2-5FC5-4D34-9042-6846D548C0AA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" name="Google Shape;176;p19">
            <a:extLst>
              <a:ext uri="{FF2B5EF4-FFF2-40B4-BE49-F238E27FC236}">
                <a16:creationId xmlns:a16="http://schemas.microsoft.com/office/drawing/2014/main" id="{1A8721BD-25D9-03B6-8836-FDC8B297FEF7}"/>
              </a:ext>
            </a:extLst>
          </p:cNvPr>
          <p:cNvCxnSpPr/>
          <p:nvPr/>
        </p:nvCxnSpPr>
        <p:spPr>
          <a:xfrm>
            <a:off x="139394" y="6309107"/>
            <a:ext cx="11990062" cy="2891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7" name="Google Shape;177;p19" descr="Teacher">
            <a:extLst>
              <a:ext uri="{FF2B5EF4-FFF2-40B4-BE49-F238E27FC236}">
                <a16:creationId xmlns:a16="http://schemas.microsoft.com/office/drawing/2014/main" id="{A9617D31-7A54-6397-2F20-BB79F60ED08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CADE6428-5CBD-A631-557E-3AE1E3FBD54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Date:26-09-2025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79" name="Google Shape;179;p19">
            <a:extLst>
              <a:ext uri="{FF2B5EF4-FFF2-40B4-BE49-F238E27FC236}">
                <a16:creationId xmlns:a16="http://schemas.microsoft.com/office/drawing/2014/main" id="{DB5BE5D0-E3F9-C343-5996-4D822105EC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600" b="1">
              <a:solidFill>
                <a:srgbClr val="0070C0"/>
              </a:solidFill>
            </a:endParaRPr>
          </a:p>
        </p:txBody>
      </p:sp>
      <p:sp>
        <p:nvSpPr>
          <p:cNvPr id="180" name="Google Shape;180;p19">
            <a:extLst>
              <a:ext uri="{FF2B5EF4-FFF2-40B4-BE49-F238E27FC236}">
                <a16:creationId xmlns:a16="http://schemas.microsoft.com/office/drawing/2014/main" id="{D6B97BC0-3A14-F592-105D-8FA23131B32C}"/>
              </a:ext>
            </a:extLst>
          </p:cNvPr>
          <p:cNvSpPr txBox="1"/>
          <p:nvPr/>
        </p:nvSpPr>
        <p:spPr>
          <a:xfrm>
            <a:off x="80818" y="956090"/>
            <a:ext cx="119850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9">
            <a:extLst>
              <a:ext uri="{FF2B5EF4-FFF2-40B4-BE49-F238E27FC236}">
                <a16:creationId xmlns:a16="http://schemas.microsoft.com/office/drawing/2014/main" id="{CAC710B0-1F2D-424B-8318-454D11E439C7}"/>
              </a:ext>
            </a:extLst>
          </p:cNvPr>
          <p:cNvSpPr txBox="1"/>
          <p:nvPr/>
        </p:nvSpPr>
        <p:spPr>
          <a:xfrm>
            <a:off x="0" y="918629"/>
            <a:ext cx="11985040" cy="569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Traffic Light Control: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traffic signal optimization based on real-time vehicle density and flow patterns, reducing wait times at intersections by up to 30%</a:t>
            </a:r>
          </a:p>
          <a:p>
            <a:pPr marL="514350" marR="0" lvl="0" indent="-5143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Violation Enforcement: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detection and recording of traffic violations including speeding, red light running, illegal lane changes, and unauthorized vehicle access in restricted zones with photographic evidence capture.</a:t>
            </a:r>
          </a:p>
          <a:p>
            <a:pPr marL="514350" marR="0" lvl="0" indent="-5143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Vehicle Prioritization: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detection of ambulances, fire trucks, and police vehicles to automatically adjust traffic signals and clear routes, reducing emergency response times and potentially saving lives.</a:t>
            </a:r>
          </a:p>
          <a:p>
            <a:pPr marL="514350" marR="0" lvl="0" indent="-5143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 Monitoring: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 of traffic-related emissions by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vehicle types, speeds, and idle times to support air quality.</a:t>
            </a:r>
            <a:endParaRPr sz="2800" b="0" i="0" u="none" strike="noStrike" cap="none" dirty="0">
              <a:solidFill>
                <a:srgbClr val="333333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82" name="Google Shape;182;p19">
            <a:extLst>
              <a:ext uri="{FF2B5EF4-FFF2-40B4-BE49-F238E27FC236}">
                <a16:creationId xmlns:a16="http://schemas.microsoft.com/office/drawing/2014/main" id="{631806A0-9003-E94E-1FC6-16F135B1B0C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56387" y="6600339"/>
            <a:ext cx="6918917" cy="200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i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Traffic Analysis And Vehicle Detector</a:t>
            </a:r>
            <a:endParaRPr lang="en-US" sz="1400" i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3566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rgbClr val="7339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6.References</a:t>
            </a:r>
            <a:endParaRPr sz="4000" b="1" i="0" u="none" strike="noStrike" cap="none">
              <a:solidFill>
                <a:srgbClr val="7339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2" name="Google Shape;202;p21"/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21"/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21"/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5" name="Google Shape;205;p21" descr="Teach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Date:26-09-2025</a:t>
            </a:r>
          </a:p>
        </p:txBody>
      </p:sp>
      <p:sp>
        <p:nvSpPr>
          <p:cNvPr id="207" name="Google Shape;207;p21"/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 smtClean="0">
                <a:solidFill>
                  <a:srgbClr val="0070C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 sz="1600" b="1">
              <a:solidFill>
                <a:srgbClr val="0070C0"/>
              </a:solidFill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80818" y="956090"/>
            <a:ext cx="119850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31190" y="948308"/>
            <a:ext cx="11993244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[1].Ma, C., &amp; Xue, F. (2024). "A review of vehicle detection methods based on computer vision."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Intelligent and Connected Vehicles, 7(1), 1-18. 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Afandizadeh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et al. (2024). "Deep Learning Algorithms for Traffic Forecasting: A Comprehensive Review and Comparison with Classical Ones." Journal of Advanced Transportation, Wiley Online Library.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[3].Ren, S., et al. (2024). "Target detection and classification via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EfficientDet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CNN over unmanned aerial vehicles” Frontiers in Neurorobotics, 18.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Singh, R., &amp; Kumar, A. (2024). "Artificial intelligence based object detection and traffic prediction by autonomous vehicles – A review." Expert Systems with Applications, 238, 122285.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Google Shape;210;p21"/>
          <p:cNvSpPr txBox="1">
            <a:spLocks noGrp="1"/>
          </p:cNvSpPr>
          <p:nvPr>
            <p:ph type="ftr" idx="11"/>
          </p:nvPr>
        </p:nvSpPr>
        <p:spPr>
          <a:xfrm>
            <a:off x="2585492" y="6560845"/>
            <a:ext cx="6957391" cy="24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i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Traffic Analysis And Vehicle Detector</a:t>
            </a:r>
            <a:endParaRPr lang="en-US" sz="1400" i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i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" name="Google Shape;215;p22"/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" name="Google Shape;216;p22"/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7" name="Google Shape;217;p22"/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Date:26-09-2025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218" name="Google Shape;218;p22"/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600" b="1">
              <a:solidFill>
                <a:srgbClr val="0070C0"/>
              </a:solidFill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80818" y="1375947"/>
            <a:ext cx="1198504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3B38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  <a:p>
            <a:pPr marL="457200" marR="0" lvl="1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3B38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questions </a:t>
            </a:r>
            <a:r>
              <a:rPr lang="en-US" sz="4800" b="0" i="0" u="none" strike="noStrike" cap="none">
                <a:solidFill>
                  <a:srgbClr val="3B383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?</a:t>
            </a:r>
            <a:endParaRPr sz="3200" b="0" i="0" u="none" strike="noStrike" cap="none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1" name="Google Shape;221;p22"/>
          <p:cNvSpPr txBox="1">
            <a:spLocks noGrp="1"/>
          </p:cNvSpPr>
          <p:nvPr>
            <p:ph type="ftr" idx="11"/>
          </p:nvPr>
        </p:nvSpPr>
        <p:spPr>
          <a:xfrm>
            <a:off x="3024809" y="6563619"/>
            <a:ext cx="6957391" cy="274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i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Traffic Analysis And Vehicle Detector</a:t>
            </a:r>
            <a:endParaRPr lang="en-US" sz="1400" i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1007</Words>
  <Application>Microsoft Office PowerPoint</Application>
  <PresentationFormat>Widescreen</PresentationFormat>
  <Paragraphs>115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Helvetica Neue Light</vt:lpstr>
      <vt:lpstr>Tahoma</vt:lpstr>
      <vt:lpstr>Lato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lohith gopi</cp:lastModifiedBy>
  <cp:revision>9</cp:revision>
  <dcterms:modified xsi:type="dcterms:W3CDTF">2025-09-25T14:27:29Z</dcterms:modified>
</cp:coreProperties>
</file>